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fd8800414e433b" /><Relationship Type="http://schemas.openxmlformats.org/officeDocument/2006/relationships/extended-properties" Target="/docProps/app.xml" Id="R780871f2714b41f4" /><Relationship Type="http://schemas.openxmlformats.org/officeDocument/2006/relationships/officeDocument" Target="/ppt/presentation.xml" Id="Rf749bad962df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1eb25cd98e43d8"/>
  </p:sldMasterIdLst>
  <p:notesMasterIdLst>
    <p:notesMasterId xmlns:r="http://schemas.openxmlformats.org/officeDocument/2006/relationships" r:id="Rb53bdcb04db14e46"/>
  </p:notesMasterIdLst>
  <p:sldIdLst>
    <p:sldId xmlns:r="http://schemas.openxmlformats.org/officeDocument/2006/relationships" id="256" r:id="Ra992acca061c4ed0"/>
    <p:sldId xmlns:r="http://schemas.openxmlformats.org/officeDocument/2006/relationships" id="257" r:id="R99f4e2308d294a1f"/>
    <p:sldId xmlns:r="http://schemas.openxmlformats.org/officeDocument/2006/relationships" id="258" r:id="R4210d3d5f1ec42cd"/>
    <p:sldId xmlns:r="http://schemas.openxmlformats.org/officeDocument/2006/relationships" id="259" r:id="Rfdab3d1e87d34865"/>
    <p:sldId xmlns:r="http://schemas.openxmlformats.org/officeDocument/2006/relationships" id="260" r:id="Raa87953d6c6b4b9c"/>
    <p:sldId xmlns:r="http://schemas.openxmlformats.org/officeDocument/2006/relationships" id="261" r:id="R7e6886d296b44e4b"/>
    <p:sldId xmlns:r="http://schemas.openxmlformats.org/officeDocument/2006/relationships" id="262" r:id="R79ad1f4f8d534fb1"/>
    <p:sldId xmlns:r="http://schemas.openxmlformats.org/officeDocument/2006/relationships" id="263" r:id="R00ba86d2ab434830"/>
    <p:sldId xmlns:r="http://schemas.openxmlformats.org/officeDocument/2006/relationships" id="264" r:id="R3eb83bc75f714fb5"/>
    <p:sldId xmlns:r="http://schemas.openxmlformats.org/officeDocument/2006/relationships" id="265" r:id="Rfef19ac58bcc40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f4f63f8a4d40eb" /><Relationship Type="http://schemas.openxmlformats.org/officeDocument/2006/relationships/slideMaster" Target="/ppt/slideMasters/slideMaster1.xml" Id="R2a1eb25cd98e43d8" /><Relationship Type="http://schemas.openxmlformats.org/officeDocument/2006/relationships/notesMaster" Target="/ppt/notesMasters/notesMaster1.xml" Id="Rb53bdcb04db14e46" /><Relationship Type="http://schemas.openxmlformats.org/officeDocument/2006/relationships/presProps" Target="/ppt/presProps.xml" Id="Rfef5465e8a69436d" /><Relationship Type="http://schemas.openxmlformats.org/officeDocument/2006/relationships/tableStyles" Target="/ppt/tableStyles.xml" Id="R5db960348ca74741" /><Relationship Type="http://schemas.openxmlformats.org/officeDocument/2006/relationships/slide" Target="/ppt/slides/slide1.xml" Id="Ra992acca061c4ed0" /><Relationship Type="http://schemas.openxmlformats.org/officeDocument/2006/relationships/slide" Target="/ppt/slides/slide2.xml" Id="R99f4e2308d294a1f" /><Relationship Type="http://schemas.openxmlformats.org/officeDocument/2006/relationships/slide" Target="/ppt/slides/slide3.xml" Id="R4210d3d5f1ec42cd" /><Relationship Type="http://schemas.openxmlformats.org/officeDocument/2006/relationships/slide" Target="/ppt/slides/slide4.xml" Id="Rfdab3d1e87d34865" /><Relationship Type="http://schemas.openxmlformats.org/officeDocument/2006/relationships/slide" Target="/ppt/slides/slide5.xml" Id="Raa87953d6c6b4b9c" /><Relationship Type="http://schemas.openxmlformats.org/officeDocument/2006/relationships/slide" Target="/ppt/slides/slide6.xml" Id="R7e6886d296b44e4b" /><Relationship Type="http://schemas.openxmlformats.org/officeDocument/2006/relationships/slide" Target="/ppt/slides/slide7.xml" Id="R79ad1f4f8d534fb1" /><Relationship Type="http://schemas.openxmlformats.org/officeDocument/2006/relationships/slide" Target="/ppt/slides/slide8.xml" Id="R00ba86d2ab434830" /><Relationship Type="http://schemas.openxmlformats.org/officeDocument/2006/relationships/slide" Target="/ppt/slides/slide9.xml" Id="R3eb83bc75f714fb5" /><Relationship Type="http://schemas.openxmlformats.org/officeDocument/2006/relationships/slide" Target="/ppt/slides/slide10.xml" Id="Rfef19ac58bcc40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ee9c31f0743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55654151c4f5d" /><Relationship Type="http://schemas.openxmlformats.org/officeDocument/2006/relationships/notesMaster" Target="/ppt/notesMasters/notesMaster1.xml" Id="Rbff6b6bdc99641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e3e246d7f94562" /><Relationship Type="http://schemas.openxmlformats.org/officeDocument/2006/relationships/notesMaster" Target="/ppt/notesMasters/notesMaster1.xml" Id="Ra8f4db511d3041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05e7201bd64a64" /><Relationship Type="http://schemas.openxmlformats.org/officeDocument/2006/relationships/notesMaster" Target="/ppt/notesMasters/notesMaster1.xml" Id="R4b3f19a93cf34a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660f05ddf749c5" /><Relationship Type="http://schemas.openxmlformats.org/officeDocument/2006/relationships/notesMaster" Target="/ppt/notesMasters/notesMaster1.xml" Id="Rbef2f894d5e542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d9217bc89046d2" /><Relationship Type="http://schemas.openxmlformats.org/officeDocument/2006/relationships/notesMaster" Target="/ppt/notesMasters/notesMaster1.xml" Id="Rc41f2aaad9c746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70283a39564348" /><Relationship Type="http://schemas.openxmlformats.org/officeDocument/2006/relationships/notesMaster" Target="/ppt/notesMasters/notesMaster1.xml" Id="Rf566b26f9fd849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a50e0cd1954964" /><Relationship Type="http://schemas.openxmlformats.org/officeDocument/2006/relationships/notesMaster" Target="/ppt/notesMasters/notesMaster1.xml" Id="Rd5d45803beba49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b4aea3d0564e1b" /><Relationship Type="http://schemas.openxmlformats.org/officeDocument/2006/relationships/notesMaster" Target="/ppt/notesMasters/notesMaster1.xml" Id="Reaf8a453d7be47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82969a1b340e7" /><Relationship Type="http://schemas.openxmlformats.org/officeDocument/2006/relationships/notesMaster" Target="/ppt/notesMasters/notesMaster1.xml" Id="R4b34721dd71b4e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46f56e21854f99" /><Relationship Type="http://schemas.openxmlformats.org/officeDocument/2006/relationships/notesMaster" Target="/ppt/notesMasters/notesMaster1.xml" Id="R667e1bde84e8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我们正在开发一款面向既有车联网平台的本地 AI 辅助工具。目标用户是技术支持和现场服务人员。展示围绕已经运行的软件原型展开；模拟工况分类结果不能当作实机故障预测准确率。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依据：docs/机联智检_完整参赛Proposal.md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能展示设备数据，但数据不变可能是停机、链路问题或缓存问题，不能直接断定设备损坏。故障码只是线索，备件仍需匹配整机配置。我们的切入点是减少查找、整理和反复确认的工作；节省时间的幅度还需服务人员对照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依据：项目需求与 proposal 第一章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用户在 Trackunit 查看设备，打开侧栏读取设备 ID，选择本地对应版本后提问。AI 查询证据，程序返回指标与备件候选。检查结果可以挂到原诊断记录下，再带着反馈继续分析。平台关联代码已实现，本地网址转交验证通过，实际安装后的侧栏联调待完成。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依据：docs/EXTENSION.md；docs/INSPECTION_FEEDBACK.md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语言模型负责理解问题、选择有限的证据工具和解释结果；程序负责时间计算、引用范围和目录条件。工况识别另由传感器分类模型完成。模型不执行设备控制，也不根据一个故障码自动下单。结构化约束减少错误，但不能证明自由文本摘要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依据：app/local_assistant.py；app/work_state.py；docs/WORK_STATE_MODEL.md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人工编写的演示案例，不是制造商故障结论。两个告警时点的首末间隔为25分钟，不能叫作故障复发周期。程序检索到演示候选，展示目录原文检查步骤；还要核实故障活跃状态与整机配置。随后可保存明确标记为模拟的检查反馈并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依据：docs/PARTS_DEMO.md；docs/examples/demo-parts-catalog.json；docs/INSPECTION_FEEDBACK.md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读取真实快照和一台挖掘机的历史工时。对应怠速为空，故障接口曾返回401，不能用演示告警冒充实际返回。快照字段有各自的时间，我们已按观测时间拆分，保留零值。当前详细传感器不足以直接运行工况分类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依据：docs/TRACKUNIT_NORMALIZATION.md；docs/TRACKUNIT_HISTORY_SYNC.md；本地接口核验记录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完整独立班次划分训练和测试，避免把相邻采样点随机拆开。测试为7段、40320点，输入只有当前和过去的传感器特征，没有标签、场景编号或未来数据。随机森林原始六类准确率90.04%，多数类基线26.41%。这衡量模拟数据分类能力，不是实机故障预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依据：data/work_state_v1/evaluation.json；docs/WORK_STATE_MODEL.md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模型和0.65阈值后，我们加入传感器缺失、额外噪声和信号冻结。额外噪声下已分类准确率降到84.11%。压力缺失点直接保留未知，信号冻结影响区间覆盖率只有41.18%。这些结果说明高分不等于可靠，现场需要更丰富信号和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依据：docs/evaluation/2026-09-14-work-state-stress.md；对应 JSON 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已交付源码、模拟数据生成器、演示备件目录、工况模型与回放、检查反馈、测试报告、proposal以及本地原型包。独立解压目录通过了本地AI查询及保存，但复用了本机依赖和Ollama，不等同于新电脑或断网验收。侧栏安装和完整录屏仍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依据：docs/evaluation/2026-09-14-release-smoke.md；docs/EXTENSION.md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使用现有电脑和已购会员，没有新增现金开发预算。下一阶段需要授权的维修资料、带结果的历史工单和技术人员复核。拟从限定机型、限定任务的小范围试用开始，对照人工与工具辅助的耗时、遗漏和修改情况。是否付费以及部署服务价格，必须在试用后确认，不能把商业假设写成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依据：proposal 第八章；尚无实机试点、收益或收入证明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d966e05044e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35629094dd48f3" /><Relationship Type="http://schemas.openxmlformats.org/officeDocument/2006/relationships/slideLayout" Target="/ppt/slideLayouts/slideLayout1.xml" Id="Rde1858843c804e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1858843c804e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275ffa5e54887" /><Relationship Type="http://schemas.openxmlformats.org/officeDocument/2006/relationships/notesSlide" Target="/ppt/notesSlides/notesSlide1.xml" Id="R1594d1650fb44b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ed4ae935f488d" /><Relationship Type="http://schemas.openxmlformats.org/officeDocument/2006/relationships/notesSlide" Target="/ppt/notesSlides/notesSlide2.xml" Id="R022abf5a0a424e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56498a8094849" /><Relationship Type="http://schemas.openxmlformats.org/officeDocument/2006/relationships/notesSlide" Target="/ppt/notesSlides/notesSlide3.xml" Id="Ra92eb34de11f49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e6cd9042a470e" /><Relationship Type="http://schemas.openxmlformats.org/officeDocument/2006/relationships/notesSlide" Target="/ppt/notesSlides/notesSlide4.xml" Id="R3ca1e6b7d4b642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6380d8f24ec9" /><Relationship Type="http://schemas.openxmlformats.org/officeDocument/2006/relationships/notesSlide" Target="/ppt/notesSlides/notesSlide5.xml" Id="R2750e44baf4844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e47a3ea7949f3" /><Relationship Type="http://schemas.openxmlformats.org/officeDocument/2006/relationships/notesSlide" Target="/ppt/notesSlides/notesSlide6.xml" Id="R509c5fc730444f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0bfd3d9c04258" /><Relationship Type="http://schemas.openxmlformats.org/officeDocument/2006/relationships/chart" Target="/ppt/slides/charts/chart1.xml" Id="R1e1f17e8d17944f9" /><Relationship Type="http://schemas.openxmlformats.org/officeDocument/2006/relationships/notesSlide" Target="/ppt/notesSlides/notesSlide7.xml" Id="R88ae7678423f4c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862c35f0c4885" /><Relationship Type="http://schemas.openxmlformats.org/officeDocument/2006/relationships/notesSlide" Target="/ppt/notesSlides/notesSlide8.xml" Id="Rf11b41e0850148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391cab9a840e3" /><Relationship Type="http://schemas.openxmlformats.org/officeDocument/2006/relationships/notesSlide" Target="/ppt/notesSlides/notesSlide9.xml" Id="R53ed4fac64124f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9c5ff49aa434e" /><Relationship Type="http://schemas.openxmlformats.org/officeDocument/2006/relationships/notesSlide" Target="/ppt/notesSlides/notesSlide10.xml" Id="R5aea9fd28d2a4b0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六类原始准确率</c:v>
          </c:tx>
          <c:spPr>
            <a:solidFill xmlns:a="http://schemas.openxmlformats.org/drawingml/2006/main">
              <a:srgbClr val="2463BC"/>
            </a:solidFill>
          </c:spPr>
          <c:cat>
            <c:strRef>
              <c:f>'Chart Data'!$A$2:$A$3</c:f>
              <c:strCache>
                <c:ptCount val="2"/>
                <c:pt idx="0">
                  <c:v>多数类基线</c:v>
                </c:pt>
                <c:pt idx="1">
                  <c:v>随机森林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0.2641</c:v>
                </c:pt>
                <c:pt idx="1">
                  <c:v>0.9004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64E78-CC87-4897-95AB-C46F86D7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机联智检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1B8B1-0C24-40C2-881A-A360D404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既有车联网平台的</a:t>
            </a:r>
          </a:p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诊断与备件辅助工具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558E8-833E-45B8-BE7F-ABCD87D4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AI＋工程机械专业赛  ·  2026年9月</a:t>
            </a:r>
          </a:p>
        </p:txBody>
      </p:sp>
    </p:spTree>
    <p:extLst>
      <p:ext uri="{BB962C8B-B14F-4D97-AF65-F5344CB8AC3E}">
        <p14:creationId xmlns:p14="http://schemas.microsoft.com/office/powerpoint/2010/main" val="165876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BFBAE-E8D6-4B04-8E72-A64AF745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远程排查中的信息缺口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A0A07-EE63-4BE2-BC4F-A5339EE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工时不变，可能是停机，也可能是数据没有更新。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D0540-9BED-4131-AA9A-161264EE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出现故障码，还需要核查时间、状态与现场证据。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27123-C7CA-4E39-BB85-76CEDABD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找到同名备件，仍需要确认机型、序列号与资料版本。</a:t>
            </a:r>
          </a:p>
        </p:txBody>
      </p:sp>
    </p:spTree>
    <p:extLst>
      <p:ext uri="{BB962C8B-B14F-4D97-AF65-F5344CB8AC3E}">
        <p14:creationId xmlns:p14="http://schemas.microsoft.com/office/powerpoint/2010/main" val="1947819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21192-1028-4E92-A2AA-BF2E8CA4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D2AC0-5588-43D5-8974-A5868516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1  读取平台设备 ID，选择对应数据版本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EFCA1-BB7A-4BA5-AB4B-2CA556D8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2  提问并补充现场观察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A9804-0922-48C0-B8B3-D5F8270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3  查看证据、检查步骤与备件候选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390D7-4EF0-4959-AA3D-DF8F0B6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4  保存检查结果，继续分析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8F597-9F7B-4EA1-B5F2-6A58E7A3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5  导出报告并由服务人员复核</a:t>
            </a:r>
          </a:p>
        </p:txBody>
      </p:sp>
    </p:spTree>
    <p:extLst>
      <p:ext uri="{BB962C8B-B14F-4D97-AF65-F5344CB8AC3E}">
        <p14:creationId xmlns:p14="http://schemas.microsoft.com/office/powerpoint/2010/main" val="1659786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B9988-DEF4-435F-92D6-7C6D5EFA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与程序的分工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43375"/>
                <a:gridCol w="458152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实现方式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Ollama + qwen3:8b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问题解释与工具选择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证据与备件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时间核验、精确条件检索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可追溯指标与候选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工况识别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模拟传感器 + 随机森林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六类工况或未知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C5043-7524-45DC-932A-ADFEE67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数据处理和推理运行于本机；真实 API 同步需要网络。</a:t>
            </a:r>
          </a:p>
        </p:txBody>
      </p:sp>
    </p:spTree>
    <p:extLst>
      <p:ext uri="{BB962C8B-B14F-4D97-AF65-F5344CB8AC3E}">
        <p14:creationId xmlns:p14="http://schemas.microsoft.com/office/powerpoint/2010/main" val="1373427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06963-C7EF-4A77-82D1-C715F432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故障与备件演示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本次演示结果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人工增压信号告警，两个记录时点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时间证据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首末间隔 25 分钟，不代表复发周期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备件候选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DEMO-BOOST-SENSOR，非采购零件号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检查反馈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记录观察，保留未确认事项，继续分析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7D2BF-C4DD-450C-80D7-65CCCFDC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模拟流程验证；真实维修手册和适用性仍需核实。</a:t>
            </a:r>
          </a:p>
        </p:txBody>
      </p:sp>
    </p:spTree>
    <p:extLst>
      <p:ext uri="{BB962C8B-B14F-4D97-AF65-F5344CB8AC3E}">
        <p14:creationId xmlns:p14="http://schemas.microsoft.com/office/powerpoint/2010/main" val="2097388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3D161-6EF6-4332-BF19-243076FF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真实接入与数据边界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467677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已验证读取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字段按各自时间处理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历史工时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一台设备返回 36 条记录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仅统计有效区间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怠速与故障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怠速为空；故障曾返回 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保留缺口，不以模拟填补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细粒度传感器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当前接入不足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工况识别使用独立模拟数据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127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C517B-40F5-46F4-98C3-ABEA135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模拟工况分类结果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1f17e8d17944f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CF4A6-BFA2-431B-95C8-8C11772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7 段独立测试班次 · 40,320 个模拟采样点 · 宏平均 F1 0.9078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E7C2E-B520-4345-B43F-2E7B6E31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训练与测试按完整班次分隔；以上不是实机准确率。</a:t>
            </a:r>
          </a:p>
        </p:txBody>
      </p:sp>
    </p:spTree>
    <p:extLst>
      <p:ext uri="{BB962C8B-B14F-4D97-AF65-F5344CB8AC3E}">
        <p14:creationId xmlns:p14="http://schemas.microsoft.com/office/powerpoint/2010/main" val="16895851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036C-987F-48CA-AF39-47446C47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缺失与噪声下的表现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857625"/>
                <a:gridCol w="45815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 89.85%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 10.15% 保留未知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额外噪声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已分类准确率 84.11%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高得分仍有误判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8,064 个缺失点全部未知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不把缺失当成零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压力冻结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影响区间覆盖率 41.18%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大量样本不能可靠分类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78699-6C45-41C6-AE62-40D706BA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模型得分未校准成真实正确概率，不能用于自动维修决策。</a:t>
            </a:r>
          </a:p>
        </p:txBody>
      </p:sp>
    </p:spTree>
    <p:extLst>
      <p:ext uri="{BB962C8B-B14F-4D97-AF65-F5344CB8AC3E}">
        <p14:creationId xmlns:p14="http://schemas.microsoft.com/office/powerpoint/2010/main" val="447744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F1217-13A0-48E3-9970-0F85FF6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当前交付与待验收事项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6E999-BA66-4509-80BB-955B710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DD992-0FD9-49BE-B5E9-3E0C53EB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本地服务与扩展源码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模拟数据、备件模板与工况回放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检查反馈、评测与原型包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A0E20-FBC1-4638-82D2-613911B0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待完成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62711-C59F-40D4-B496-21D4AF3F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实际侧栏安装联调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新环境安装及断网验收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更多语义评测与现场试用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91086-C658-4FF8-BEEA-D4A4EBDB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原型可演示，尚未证明实机预测效果或量化维修收益。</a:t>
            </a:r>
          </a:p>
        </p:txBody>
      </p:sp>
    </p:spTree>
    <p:extLst>
      <p:ext uri="{BB962C8B-B14F-4D97-AF65-F5344CB8AC3E}">
        <p14:creationId xmlns:p14="http://schemas.microsoft.com/office/powerpoint/2010/main" val="16836588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F443-451A-4380-8AE1-297352C5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试用计划与合作需求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F7659-3AEB-4FA4-B483-409F486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限定机型与任务，开展技术支持人员试用。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A88B2-5659-4427-99BF-E5ED06F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获取授权维修资料、备件适用范围和历史检查结果。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C9902-19E0-4819-8668-FDA5A607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对照人工流程，记录耗时、遗漏、修改与拒答。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B4693-B800-4681-945D-3918F17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本期零新增现金开发预算；后续可探索本地部署与维护服务。</a:t>
            </a:r>
          </a:p>
        </p:txBody>
      </p:sp>
    </p:spTree>
    <p:extLst>
      <p:ext uri="{BB962C8B-B14F-4D97-AF65-F5344CB8AC3E}">
        <p14:creationId xmlns:p14="http://schemas.microsoft.com/office/powerpoint/2010/main" val="607962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2026-09-14T05:45:52.9060000Z</dcterms:created>
  <dcterms:modified xsi:type="dcterms:W3CDTF">2026-09-14T05:45:52.9060000Z</dcterms:modified>
</coreProperties>
</file>