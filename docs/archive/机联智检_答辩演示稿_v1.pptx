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5bd08264954d9a" /><Relationship Type="http://schemas.openxmlformats.org/officeDocument/2006/relationships/extended-properties" Target="/docProps/app.xml" Id="Rd790e67fd92240c9" /><Relationship Type="http://schemas.openxmlformats.org/officeDocument/2006/relationships/officeDocument" Target="/ppt/presentation.xml" Id="R06caa6c0950846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f2802b28454a70"/>
  </p:sldMasterIdLst>
  <p:notesMasterIdLst>
    <p:notesMasterId xmlns:r="http://schemas.openxmlformats.org/officeDocument/2006/relationships" r:id="Rc61eb33d76a1450c"/>
  </p:notesMasterIdLst>
  <p:sldIdLst>
    <p:sldId xmlns:r="http://schemas.openxmlformats.org/officeDocument/2006/relationships" id="256" r:id="R5d2290b1d04b4b0c"/>
    <p:sldId xmlns:r="http://schemas.openxmlformats.org/officeDocument/2006/relationships" id="257" r:id="R758035746246459a"/>
    <p:sldId xmlns:r="http://schemas.openxmlformats.org/officeDocument/2006/relationships" id="258" r:id="Rca55ed0383f04c7a"/>
    <p:sldId xmlns:r="http://schemas.openxmlformats.org/officeDocument/2006/relationships" id="259" r:id="R756bd24e7e154654"/>
    <p:sldId xmlns:r="http://schemas.openxmlformats.org/officeDocument/2006/relationships" id="260" r:id="Rec27c1e275844811"/>
    <p:sldId xmlns:r="http://schemas.openxmlformats.org/officeDocument/2006/relationships" id="261" r:id="Re64a6fe4a453466c"/>
    <p:sldId xmlns:r="http://schemas.openxmlformats.org/officeDocument/2006/relationships" id="262" r:id="R28a3a9eeb0c04cbe"/>
    <p:sldId xmlns:r="http://schemas.openxmlformats.org/officeDocument/2006/relationships" id="263" r:id="Rd7542b3b734342be"/>
    <p:sldId xmlns:r="http://schemas.openxmlformats.org/officeDocument/2006/relationships" id="264" r:id="R75e5f42672b24594"/>
    <p:sldId xmlns:r="http://schemas.openxmlformats.org/officeDocument/2006/relationships" id="265" r:id="R12b97f1c7b9b4a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e31db91bf843f9" /><Relationship Type="http://schemas.openxmlformats.org/officeDocument/2006/relationships/slideMaster" Target="/ppt/slideMasters/slideMaster1.xml" Id="R78f2802b28454a70" /><Relationship Type="http://schemas.openxmlformats.org/officeDocument/2006/relationships/notesMaster" Target="/ppt/notesMasters/notesMaster1.xml" Id="Rc61eb33d76a1450c" /><Relationship Type="http://schemas.openxmlformats.org/officeDocument/2006/relationships/presProps" Target="/ppt/presProps.xml" Id="R72eb7564cd644e72" /><Relationship Type="http://schemas.openxmlformats.org/officeDocument/2006/relationships/tableStyles" Target="/ppt/tableStyles.xml" Id="R70415e5d44c4425d" /><Relationship Type="http://schemas.openxmlformats.org/officeDocument/2006/relationships/slide" Target="/ppt/slides/slide1.xml" Id="R5d2290b1d04b4b0c" /><Relationship Type="http://schemas.openxmlformats.org/officeDocument/2006/relationships/slide" Target="/ppt/slides/slide2.xml" Id="R758035746246459a" /><Relationship Type="http://schemas.openxmlformats.org/officeDocument/2006/relationships/slide" Target="/ppt/slides/slide3.xml" Id="Rca55ed0383f04c7a" /><Relationship Type="http://schemas.openxmlformats.org/officeDocument/2006/relationships/slide" Target="/ppt/slides/slide4.xml" Id="R756bd24e7e154654" /><Relationship Type="http://schemas.openxmlformats.org/officeDocument/2006/relationships/slide" Target="/ppt/slides/slide5.xml" Id="Rec27c1e275844811" /><Relationship Type="http://schemas.openxmlformats.org/officeDocument/2006/relationships/slide" Target="/ppt/slides/slide6.xml" Id="Re64a6fe4a453466c" /><Relationship Type="http://schemas.openxmlformats.org/officeDocument/2006/relationships/slide" Target="/ppt/slides/slide7.xml" Id="R28a3a9eeb0c04cbe" /><Relationship Type="http://schemas.openxmlformats.org/officeDocument/2006/relationships/slide" Target="/ppt/slides/slide8.xml" Id="Rd7542b3b734342be" /><Relationship Type="http://schemas.openxmlformats.org/officeDocument/2006/relationships/slide" Target="/ppt/slides/slide9.xml" Id="R75e5f42672b24594" /><Relationship Type="http://schemas.openxmlformats.org/officeDocument/2006/relationships/slide" Target="/ppt/slides/slide10.xml" Id="R12b97f1c7b9b4a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7de521b62c48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c722b7688d4660" /><Relationship Type="http://schemas.openxmlformats.org/officeDocument/2006/relationships/notesMaster" Target="/ppt/notesMasters/notesMaster1.xml" Id="R3fa5e29bd53648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aadcfb0ad64350" /><Relationship Type="http://schemas.openxmlformats.org/officeDocument/2006/relationships/notesMaster" Target="/ppt/notesMasters/notesMaster1.xml" Id="R7fc478473b604a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ef1e73e84e45e4" /><Relationship Type="http://schemas.openxmlformats.org/officeDocument/2006/relationships/notesMaster" Target="/ppt/notesMasters/notesMaster1.xml" Id="Rab7111937fea4f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88bc294d544124" /><Relationship Type="http://schemas.openxmlformats.org/officeDocument/2006/relationships/notesMaster" Target="/ppt/notesMasters/notesMaster1.xml" Id="Rcc32331c596741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32c58fe0824f7e" /><Relationship Type="http://schemas.openxmlformats.org/officeDocument/2006/relationships/notesMaster" Target="/ppt/notesMasters/notesMaster1.xml" Id="R82b890ea028549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67bfd62b544294" /><Relationship Type="http://schemas.openxmlformats.org/officeDocument/2006/relationships/notesMaster" Target="/ppt/notesMasters/notesMaster1.xml" Id="Rdab6a0b8b20b49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4a99599a744cd6" /><Relationship Type="http://schemas.openxmlformats.org/officeDocument/2006/relationships/notesMaster" Target="/ppt/notesMasters/notesMaster1.xml" Id="R068d7ef3d96548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ed784306954dc5" /><Relationship Type="http://schemas.openxmlformats.org/officeDocument/2006/relationships/notesMaster" Target="/ppt/notesMasters/notesMaster1.xml" Id="Rf63941da81e04d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95aa31094441f7" /><Relationship Type="http://schemas.openxmlformats.org/officeDocument/2006/relationships/notesMaster" Target="/ppt/notesMasters/notesMaster1.xml" Id="R57d8773c429243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adc6202fd940c5" /><Relationship Type="http://schemas.openxmlformats.org/officeDocument/2006/relationships/notesMaster" Target="/ppt/notesMasters/notesMaster1.xml" Id="Rf340b50957c343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我们正在开发一款面向既有车联网平台的本地 AI 辅助工具。目标用户是技术支持和现场服务人员。展示围绕已经运行的软件原型展开；模拟工况分类结果不能当作实机故障预测准确率。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依据：docs/机联智检_完整参赛Proposal.md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能展示设备数据，但数据不变可能是停机、链路问题或缓存问题，不能直接断定设备损坏。故障码只是线索，备件仍需匹配整机配置。我们的切入点是减少查找、整理和反复确认的工作；节省时间的幅度还需服务人员对照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依据：项目需求与 proposal 第一章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用户在 Trackunit 查看设备，打开侧栏读取设备 ID，选择本地对应版本后提问。AI 查询证据，程序返回指标与备件候选。检查结果可以挂到原诊断记录下，再带着反馈继续分析。平台关联代码已实现，本地网址转交验证通过，实际安装后的侧栏联调待完成。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依据：docs/EXTENSION.md；docs/INSPECTION_FEEDBACK.md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语言模型负责理解问题、选择有限的证据工具和解释结果；程序负责时间计算、引用范围和目录条件。工况识别另由传感器分类模型完成。模型不执行设备控制，也不根据一个故障码自动下单。结构化约束减少错误，但不能证明自由文本摘要全部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依据：app/local_assistant.py；app/work_state.py；docs/WORK_STATE_MODEL.md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条人工编写的演示案例，不是制造商故障结论。两个告警时点的首末间隔为25分钟，不能叫作故障复发周期。程序检索到演示候选，展示目录原文检查步骤；还要核实故障活跃状态与整机配置。随后可保存明确标记为模拟的检查反馈并继续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依据：docs/PARTS_DEMO.md；docs/examples/demo-parts-catalog.json；docs/INSPECTION_FEEDBACK.md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经读取真实快照和一台挖掘机的历史工时。对应怠速为空，故障接口曾返回401，不能用演示告警冒充实际返回。快照字段有各自的时间，我们已按观测时间拆分，保留零值。当前详细传感器不足以直接运行工况分类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依据：docs/TRACKUNIT_NORMALIZATION.md；docs/TRACKUNIT_HISTORY_SYNC.md；本地接口核验记录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用完整独立班次划分训练和测试，避免把相邻采样点随机拆开。测试为7段、40320点，输入只有当前和过去的传感器特征，没有标签、场景编号或未来数据。随机森林原始六类准确率90.04%，多数类基线26.41%。这衡量模拟数据分类能力，不是实机故障预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依据：data/work_state_v1/evaluation.json；docs/WORK_STATE_MODEL.md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模型和0.65阈值后，我们加入传感器缺失、额外噪声和信号冻结。额外噪声下已分类准确率降到84.11%。压力缺失点直接保留未知，信号冻结影响区间覆盖率只有41.18%。这些结果说明高分不等于可靠，现场需要更丰富信号和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依据：docs/evaluation/2026-09-14-work-state-stress.md；对应 JSON 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已交付源码、模拟数据生成器、演示备件目录、工况模型与回放、检查反馈、测试报告、proposal以及本地原型包。独立解压目录通过了本地AI查询及保存，但复用了本机依赖和Ollama，不等同于新电脑或断网验收。侧栏安装和完整录屏仍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依据：docs/evaluation/2026-09-14-release-smoke.md；docs/EXTENSION.md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使用现有电脑和已购会员，没有新增现金开发预算。下一阶段需要授权的维修资料、带结果的历史工单和技术人员复核。拟从限定机型、限定任务的小范围试用开始，对照人工与工具辅助的耗时、遗漏和修改情况。是否付费以及部署服务价格，必须在试用后确认，不能把商业假设写成收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依据：proposal 第八章；尚无实机试点、收益或收入证明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15ea9efbbf42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1214b114ac4198" /><Relationship Type="http://schemas.openxmlformats.org/officeDocument/2006/relationships/slideLayout" Target="/ppt/slideLayouts/slideLayout1.xml" Id="R4e0828d01d0842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0828d01d0842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fce9b7def42fd" /><Relationship Type="http://schemas.openxmlformats.org/officeDocument/2006/relationships/notesSlide" Target="/ppt/notesSlides/notesSlide1.xml" Id="Rce775a20e65a45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360ff3fef4fdd" /><Relationship Type="http://schemas.openxmlformats.org/officeDocument/2006/relationships/notesSlide" Target="/ppt/notesSlides/notesSlide2.xml" Id="R6288b00428974d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f64bff5ea422b" /><Relationship Type="http://schemas.openxmlformats.org/officeDocument/2006/relationships/notesSlide" Target="/ppt/notesSlides/notesSlide3.xml" Id="R962815768cf94a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a3f1326214e89" /><Relationship Type="http://schemas.openxmlformats.org/officeDocument/2006/relationships/notesSlide" Target="/ppt/notesSlides/notesSlide4.xml" Id="R719d202a7bcf48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e8681fbac487d" /><Relationship Type="http://schemas.openxmlformats.org/officeDocument/2006/relationships/notesSlide" Target="/ppt/notesSlides/notesSlide5.xml" Id="R60f6c5512ac24f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aa453fb2142f9" /><Relationship Type="http://schemas.openxmlformats.org/officeDocument/2006/relationships/notesSlide" Target="/ppt/notesSlides/notesSlide6.xml" Id="R5a5c75e23fcd4b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f148ece814c13" /><Relationship Type="http://schemas.openxmlformats.org/officeDocument/2006/relationships/chart" Target="/ppt/slides/charts/chart1.xml" Id="Rf4a06bad800344a8" /><Relationship Type="http://schemas.openxmlformats.org/officeDocument/2006/relationships/notesSlide" Target="/ppt/notesSlides/notesSlide7.xml" Id="R52ab9d0cac554c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a3413c9da43d2" /><Relationship Type="http://schemas.openxmlformats.org/officeDocument/2006/relationships/notesSlide" Target="/ppt/notesSlides/notesSlide8.xml" Id="R390e92cae89e4e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e587bfaaf422e" /><Relationship Type="http://schemas.openxmlformats.org/officeDocument/2006/relationships/notesSlide" Target="/ppt/notesSlides/notesSlide9.xml" Id="Rb0a105e32d614f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46a5b501b4fd2" /><Relationship Type="http://schemas.openxmlformats.org/officeDocument/2006/relationships/notesSlide" Target="/ppt/notesSlides/notesSlide10.xml" Id="R357a7951e5274b4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六类原始准确率</c:v>
          </c:tx>
          <c:spPr>
            <a:solidFill xmlns:a="http://schemas.openxmlformats.org/drawingml/2006/main">
              <a:srgbClr val="2463BC"/>
            </a:solidFill>
          </c:spPr>
          <c:cat>
            <c:strRef>
              <c:f>'Chart Data'!$A$2:$A$3</c:f>
              <c:strCache>
                <c:ptCount val="2"/>
                <c:pt idx="0">
                  <c:v>多数类基线</c:v>
                </c:pt>
                <c:pt idx="1">
                  <c:v>随机森林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0.2641</c:v>
                </c:pt>
                <c:pt idx="1">
                  <c:v>0.9004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FD1E2-BAB5-4537-B2A3-A5937B13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机联智检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8409A-19E2-4912-B619-D1B00DC1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既有车联网平台的</a:t>
            </a:r>
          </a:p>
          <a:p xmlns:a="http://schemas.openxmlformats.org/drawingml/2006/main">
            <a:pPr>
              <a:defRPr sz="36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本地 AI 诊断与备件辅助工具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63D25-EE1C-4D49-9328-596092D0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AI＋工程机械专业赛  ·  2026年9月</a:t>
            </a:r>
          </a:p>
        </p:txBody>
      </p:sp>
    </p:spTree>
    <p:extLst>
      <p:ext uri="{BB962C8B-B14F-4D97-AF65-F5344CB8AC3E}">
        <p14:creationId xmlns:p14="http://schemas.microsoft.com/office/powerpoint/2010/main" val="8536617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EEE78-F0CF-4CDD-80CE-464A7FC9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远程排查中的信息缺口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3A6A3-97B2-499C-9920-EBF739D6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工时不变，可能是停机，也可能是数据没有更新。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07676-1076-4B6C-B7F9-B94F9241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出现故障码，还需要核查时间、状态与现场证据。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278B9-1731-449E-A50C-3EA3E84C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找到同名备件，仍需要确认机型、序列号与资料版本。</a:t>
            </a:r>
          </a:p>
        </p:txBody>
      </p:sp>
    </p:spTree>
    <p:extLst>
      <p:ext uri="{BB962C8B-B14F-4D97-AF65-F5344CB8AC3E}">
        <p14:creationId xmlns:p14="http://schemas.microsoft.com/office/powerpoint/2010/main" val="2352516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40635-409B-4114-BDFD-53EF4925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使用流程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32293-75F9-49F1-8B24-13B723A8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1  读取平台设备 ID，选择对应数据版本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60A59-9136-4CB3-B6AA-9739D8A5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2  提问并补充现场观察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5C69D-0781-485F-B6A8-15EC563C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3  查看证据、检查步骤与备件候选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4BF07-ECDA-44E1-BE3D-9A379A47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4  保存检查结果，继续分析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A9776-4BAB-4A5E-9611-B8E9C7A2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5  导出报告并由服务人员复核</a:t>
            </a:r>
          </a:p>
        </p:txBody>
      </p:sp>
    </p:spTree>
    <p:extLst>
      <p:ext uri="{BB962C8B-B14F-4D97-AF65-F5344CB8AC3E}">
        <p14:creationId xmlns:p14="http://schemas.microsoft.com/office/powerpoint/2010/main" val="8804377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2279B-0716-4A65-B2DC-E1A34959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本地 AI 与程序的分工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143375"/>
                <a:gridCol w="4581525"/>
              </a:tblGrid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实现方式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语言模型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Ollama + qwen3:8b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问题解释与工具选择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证据与备件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时间核验、精确条件检索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可追溯指标与候选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工况识别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模拟传感器 + 随机森林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六类工况或未知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DC431-1F7D-4D52-BAB9-A01642C9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数据处理和推理运行于本机；真实 API 同步需要网络。</a:t>
            </a:r>
          </a:p>
        </p:txBody>
      </p:sp>
    </p:spTree>
    <p:extLst>
      <p:ext uri="{BB962C8B-B14F-4D97-AF65-F5344CB8AC3E}">
        <p14:creationId xmlns:p14="http://schemas.microsoft.com/office/powerpoint/2010/main" val="6754281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DFAA5-CCAB-40DB-8B4C-E75C85EB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故障与备件演示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534400"/>
              </a:tblGrid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本次演示结果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人工增压信号告警，两个记录时点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时间证据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首末间隔 25 分钟，不代表复发周期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备件候选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DEMO-BOOST-SENSOR，非采购零件号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检查反馈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记录观察，保留未确认事项，继续分析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19600-55B9-475F-8947-91B3C7DF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3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3BC"/>
                </a:solidFill>
                <a:latin typeface="Microsoft YaHei"/>
                <a:ea typeface="Microsoft YaHei"/>
                <a:cs typeface="Microsoft YaHei"/>
              </a:rPr>
              <a:t>模拟流程验证；真实维修手册和适用性仍需核实。</a:t>
            </a:r>
          </a:p>
        </p:txBody>
      </p:sp>
    </p:spTree>
    <p:extLst>
      <p:ext uri="{BB962C8B-B14F-4D97-AF65-F5344CB8AC3E}">
        <p14:creationId xmlns:p14="http://schemas.microsoft.com/office/powerpoint/2010/main" val="117281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C3840-F70C-46A4-85BA-13AFAFFE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真实接入与数据边界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3714750"/>
                <a:gridCol w="4676775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观察结果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设备快照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已验证读取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字段按各自时间处理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历史工时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一台设备返回 36 条记录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仅统计有效区间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怠速与故障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怠速为空；故障曾返回 401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保留缺口，不以模拟填补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细粒度传感器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当前接入不足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工况识别使用独立模拟数据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6658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F4717-4049-4521-92BA-573ED837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模拟工况分类结果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42950" y="1504950"/>
          <a:ext xmlns:a="http://schemas.openxmlformats.org/drawingml/2006/main" cx="106680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a06bad800344a8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2EBC1-6EB5-4E26-B7B7-430EDAB4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7 段独立测试班次 · 40,320 个模拟采样点 · 宏平均 F1 0.9078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DBBBB-A1E3-4B44-B859-CB82EB21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训练与测试按完整班次分隔；以上不是实机准确率。</a:t>
            </a:r>
          </a:p>
        </p:txBody>
      </p:sp>
    </p:spTree>
    <p:extLst>
      <p:ext uri="{BB962C8B-B14F-4D97-AF65-F5344CB8AC3E}">
        <p14:creationId xmlns:p14="http://schemas.microsoft.com/office/powerpoint/2010/main" val="1220815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F6AC6-0642-447A-A894-16A3751A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缺失与噪声下的表现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857625"/>
                <a:gridCol w="4581525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覆盖率 89.85%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其余 10.15% 保留未知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额外噪声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已分类准确率 84.11%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高得分仍有误判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压力缺失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8,064 个缺失点全部未知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不把缺失当成零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压力冻结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影响区间覆盖率 41.18%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大量样本不能可靠分类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D4064-1C6C-4C59-B578-F81E4601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模型得分未校准成真实正确概率，不能用于自动维修决策。</a:t>
            </a:r>
          </a:p>
        </p:txBody>
      </p:sp>
    </p:spTree>
    <p:extLst>
      <p:ext uri="{BB962C8B-B14F-4D97-AF65-F5344CB8AC3E}">
        <p14:creationId xmlns:p14="http://schemas.microsoft.com/office/powerpoint/2010/main" val="9611218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D8E7C-78EF-47F1-A7A5-EBD644B3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当前交付与待验收事项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45EDC-B3AD-4DDB-90B7-2513BF04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63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63BC"/>
                </a:solidFill>
                <a:latin typeface="Microsoft YaHei"/>
                <a:ea typeface="Microsoft YaHei"/>
                <a:cs typeface="Microsoft YaHei"/>
              </a:rPr>
              <a:t>已交付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12014-C788-4886-9F51-7918BB93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本地服务与扩展源码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模拟数据、备件模板与工况回放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检查反馈、评测与原型包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8CBD7-74AC-45F3-9206-7B134D75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待完成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A231E-FFAA-4C81-ADBB-A102B646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857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实际侧栏安装联调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新环境安装及断网验收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更多语义评测与现场试用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818CB-BD0C-4391-9910-71078F7C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原型可演示，尚未证明实机预测效果或量化维修收益。</a:t>
            </a:r>
          </a:p>
        </p:txBody>
      </p:sp>
    </p:spTree>
    <p:extLst>
      <p:ext uri="{BB962C8B-B14F-4D97-AF65-F5344CB8AC3E}">
        <p14:creationId xmlns:p14="http://schemas.microsoft.com/office/powerpoint/2010/main" val="16741385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46E04-C83F-4CEC-AEE8-446AC99F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试用计划与合作需求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DE7DD-B19B-405A-8366-ECFEE764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限定机型与任务，开展技术支持人员试用。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DD65C-9B22-4539-91E7-5D87BA07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获取授权维修资料、备件适用范围和历史检查结果。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D55B5-C384-49FC-853E-5E134CC5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对照人工流程，记录耗时、遗漏、修改与拒答。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1AC50-EA2A-473C-9CDD-C34AB291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本期零新增现金开发预算；后续可探索本地部署与维护服务。</a:t>
            </a:r>
          </a:p>
        </p:txBody>
      </p:sp>
    </p:spTree>
    <p:extLst>
      <p:ext uri="{BB962C8B-B14F-4D97-AF65-F5344CB8AC3E}">
        <p14:creationId xmlns:p14="http://schemas.microsoft.com/office/powerpoint/2010/main" val="1803233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2026-09-14T05:44:20.0420000Z</dcterms:created>
  <dcterms:modified xsi:type="dcterms:W3CDTF">2026-09-14T05:44:20.0420000Z</dcterms:modified>
</coreProperties>
</file>