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e25dd6075c4607" /><Relationship Type="http://schemas.openxmlformats.org/officeDocument/2006/relationships/extended-properties" Target="/docProps/app.xml" Id="Rcd69febc34cd4536" /><Relationship Type="http://schemas.openxmlformats.org/officeDocument/2006/relationships/officeDocument" Target="/ppt/presentation.xml" Id="Rc05808357c7f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025172d21a4bc7"/>
  </p:sldMasterIdLst>
  <p:notesMasterIdLst>
    <p:notesMasterId xmlns:r="http://schemas.openxmlformats.org/officeDocument/2006/relationships" r:id="Rd30eaa469e8f4ca1"/>
  </p:notesMasterIdLst>
  <p:sldIdLst>
    <p:sldId xmlns:r="http://schemas.openxmlformats.org/officeDocument/2006/relationships" id="256" r:id="R9a357a0b3f6e411e"/>
    <p:sldId xmlns:r="http://schemas.openxmlformats.org/officeDocument/2006/relationships" id="257" r:id="R0ef1cb157abd43ac"/>
    <p:sldId xmlns:r="http://schemas.openxmlformats.org/officeDocument/2006/relationships" id="258" r:id="R0f16fcde9d504a0d"/>
    <p:sldId xmlns:r="http://schemas.openxmlformats.org/officeDocument/2006/relationships" id="259" r:id="R8ec9f8c0c80c4730"/>
    <p:sldId xmlns:r="http://schemas.openxmlformats.org/officeDocument/2006/relationships" id="260" r:id="Rbf4bd020102446bd"/>
    <p:sldId xmlns:r="http://schemas.openxmlformats.org/officeDocument/2006/relationships" id="261" r:id="R3fcafabcc6e04bb5"/>
    <p:sldId xmlns:r="http://schemas.openxmlformats.org/officeDocument/2006/relationships" id="262" r:id="Rf95287dd71814465"/>
    <p:sldId xmlns:r="http://schemas.openxmlformats.org/officeDocument/2006/relationships" id="263" r:id="Rcb713936beec4438"/>
    <p:sldId xmlns:r="http://schemas.openxmlformats.org/officeDocument/2006/relationships" id="264" r:id="R5dde891fe6884574"/>
    <p:sldId xmlns:r="http://schemas.openxmlformats.org/officeDocument/2006/relationships" id="265" r:id="R965bb5b2d4de46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b40b38812145c4" /><Relationship Type="http://schemas.openxmlformats.org/officeDocument/2006/relationships/slideMaster" Target="/ppt/slideMasters/slideMaster1.xml" Id="Rfc025172d21a4bc7" /><Relationship Type="http://schemas.openxmlformats.org/officeDocument/2006/relationships/notesMaster" Target="/ppt/notesMasters/notesMaster1.xml" Id="Rd30eaa469e8f4ca1" /><Relationship Type="http://schemas.openxmlformats.org/officeDocument/2006/relationships/presProps" Target="/ppt/presProps.xml" Id="R276561a411094913" /><Relationship Type="http://schemas.openxmlformats.org/officeDocument/2006/relationships/tableStyles" Target="/ppt/tableStyles.xml" Id="R8774240fb32749b1" /><Relationship Type="http://schemas.openxmlformats.org/officeDocument/2006/relationships/slide" Target="/ppt/slides/slide1.xml" Id="R9a357a0b3f6e411e" /><Relationship Type="http://schemas.openxmlformats.org/officeDocument/2006/relationships/slide" Target="/ppt/slides/slide2.xml" Id="R0ef1cb157abd43ac" /><Relationship Type="http://schemas.openxmlformats.org/officeDocument/2006/relationships/slide" Target="/ppt/slides/slide3.xml" Id="R0f16fcde9d504a0d" /><Relationship Type="http://schemas.openxmlformats.org/officeDocument/2006/relationships/slide" Target="/ppt/slides/slide4.xml" Id="R8ec9f8c0c80c4730" /><Relationship Type="http://schemas.openxmlformats.org/officeDocument/2006/relationships/slide" Target="/ppt/slides/slide5.xml" Id="Rbf4bd020102446bd" /><Relationship Type="http://schemas.openxmlformats.org/officeDocument/2006/relationships/slide" Target="/ppt/slides/slide6.xml" Id="R3fcafabcc6e04bb5" /><Relationship Type="http://schemas.openxmlformats.org/officeDocument/2006/relationships/slide" Target="/ppt/slides/slide7.xml" Id="Rf95287dd71814465" /><Relationship Type="http://schemas.openxmlformats.org/officeDocument/2006/relationships/slide" Target="/ppt/slides/slide8.xml" Id="Rcb713936beec4438" /><Relationship Type="http://schemas.openxmlformats.org/officeDocument/2006/relationships/slide" Target="/ppt/slides/slide9.xml" Id="R5dde891fe6884574" /><Relationship Type="http://schemas.openxmlformats.org/officeDocument/2006/relationships/slide" Target="/ppt/slides/slide10.xml" Id="R965bb5b2d4de46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13808e47fa43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d3ae4e65f1432a" /><Relationship Type="http://schemas.openxmlformats.org/officeDocument/2006/relationships/notesMaster" Target="/ppt/notesMasters/notesMaster1.xml" Id="Rf360b217aa4b4b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e86e6c920d415a" /><Relationship Type="http://schemas.openxmlformats.org/officeDocument/2006/relationships/notesMaster" Target="/ppt/notesMasters/notesMaster1.xml" Id="Rd5c30467bdc247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6afa3323e240de" /><Relationship Type="http://schemas.openxmlformats.org/officeDocument/2006/relationships/notesMaster" Target="/ppt/notesMasters/notesMaster1.xml" Id="R1c5067900a4045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f863cb64c4506" /><Relationship Type="http://schemas.openxmlformats.org/officeDocument/2006/relationships/notesMaster" Target="/ppt/notesMasters/notesMaster1.xml" Id="Rbfbf985a281b4f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d70e3fd6346cf" /><Relationship Type="http://schemas.openxmlformats.org/officeDocument/2006/relationships/notesMaster" Target="/ppt/notesMasters/notesMaster1.xml" Id="R880c9a11e4df47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328976994f4e7f" /><Relationship Type="http://schemas.openxmlformats.org/officeDocument/2006/relationships/notesMaster" Target="/ppt/notesMasters/notesMaster1.xml" Id="Rc9d7104036ad41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5a12acd4c447b5" /><Relationship Type="http://schemas.openxmlformats.org/officeDocument/2006/relationships/notesMaster" Target="/ppt/notesMasters/notesMaster1.xml" Id="R3a6c6c01f37f44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883d9a5376480a" /><Relationship Type="http://schemas.openxmlformats.org/officeDocument/2006/relationships/notesMaster" Target="/ppt/notesMasters/notesMaster1.xml" Id="R1a141602c91e4e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233aa0a4544b16" /><Relationship Type="http://schemas.openxmlformats.org/officeDocument/2006/relationships/notesMaster" Target="/ppt/notesMasters/notesMaster1.xml" Id="R47a368ed63f142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22cfc42c8d41cc" /><Relationship Type="http://schemas.openxmlformats.org/officeDocument/2006/relationships/notesMaster" Target="/ppt/notesMasters/notesMaster1.xml" Id="R8b7659a2e73548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我们正在开发一款面向既有车联网平台的本地 AI 辅助工具。目标用户是技术支持和现场服务人员。展示围绕已经运行的软件原型展开；模拟工况分类结果不能当作实机故障预测准确率。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依据：docs/机联智检_完整参赛Proposal_v6更新稿.md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能展示设备数据，但数据不变可能是停机、链路问题或缓存问题，不能直接断定设备损坏。故障码只是线索，备件仍需匹配整机配置。我们的切入点是减少查找、整理和反复确认的工作；节省时间的幅度还需服务人员对照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依据：项目需求与 proposal 第一章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用户在 Trackunit 查看设备，打开侧栏读取设备 ID，选择本地对应版本后提问。AI 查询证据，程序返回指标与备件候选。检查结果可以挂到原诊断记录下，再带着反馈继续分析。平台关联代码已实现，本地网址转交验证通过，实际安装后的侧栏联调待完成。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依据：docs/EXTENSION.md；docs/INSPECTION_FEEDBACK.md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当前模型为 qwen3.5:9b，本机及独立解压运行均已核对实际调用。语言模型负责理解问题、选择证据工具并提供待核实解释。程序直接整理数据来源、时间、窗口指标和备件筛选原因，网页和导出报告将数据事实与 AI 解释分开。工况识别另由模拟传感器分类模型完成。自由摘要仍可能误述时间关系和适用性，尚未通过完整语义验收。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依据：app/local_assistant.py；app/work_state.py；docs/WORK_STATE_MODEL.md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人工编写的演示案例，不是制造商故障结论。两个告警时点的首末间隔为25分钟，不能叫作故障复发周期。程序检索到演示候选，展示目录原文检查步骤；还要核实故障活跃状态与整机配置。随后可保存明确标记为模拟的检查反馈并继续分析。XGSS 接口方已提供生产地址和 RSA 示例，初步说明可增加故障码返回手册网址。当前只完成本地加密，故障码字段、业务编号及账号仍待确认。打开网址不等于取得手册正文或备件查询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依据：docs/PARTS_DEMO.md；docs/examples/demo-parts-catalog.json；docs/INSPECTION_FEEDBACK.md；docs/XGSS_INTEGRATION.md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读取真实快照和一台挖掘机的历史工时。最近一次网页同步返回36条工时和空怠速，该次没有核验故障接口。此前单独故障接口尝试返回401，两次记录必须区分。快照字段有各自的时间，我们已按观测时间拆分，保留零值。当前详细传感器不足以直接运行工况分类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依据：docs/TRACKUNIT_NORMALIZATION.md；docs/TRACKUNIT_HISTORY_SYNC.md；本地接口核验记录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完整独立班次划分训练和测试，避免把相邻采样点随机拆开。测试为7段、40320点，输入只有当前和过去的传感器特征，没有标签、场景编号或未来数据。随机森林原始六类准确率90.04%，多数类基线26.41%。这衡量模拟数据分类能力，不是实机故障预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依据：data/work_state_v1/evaluation.json；docs/WORK_STATE_MODEL.md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模型和0.65阈值后，我们加入传感器缺失、额外噪声和信号冻结。额外噪声下已分类准确率降到84.11%。压力缺失点直接保留未知，信号冻结影响区间覆盖率只有41.18%。这些结果说明高分不等于可靠，现场需要更丰富信号和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依据：docs/evaluation/2026-09-14-work-state-stress.md；对应 JSON 结果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 已独立解压运行，实际调用 qwen3.5:9b 完成模拟备件查询、工况回放与报告保存。该验证复用了现有 Python 和 Ollama。已交付 44 秒模拟短片与 35 秒反馈复核短片，后者包含已知摘要错误。XGSS 在线手册、实际侧栏、整机离线及现场试用仍待完成。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依据：docs/RELEASE_V6_NOTES.md；docs/RELEASE_V6_ERRATA.md；docs/evaluation/2026-09-14-release-v6.md；docs/XGSS_INTEGRATION.md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使用现有电脑和已购会员，没有新增现金开发预算。下一阶段需要授权的维修资料、带结果的历史工单和技术人员复核。拟从限定机型、限定任务的小范围试用开始，对照人工与工具辅助的耗时、遗漏和修改情况。是否付费以及部署服务价格，必须在试用后确认，不能把商业假设写成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依据：proposal 第八章；尚无实机试点、收益或收入证明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409453e9142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399266d9ea466e" /><Relationship Type="http://schemas.openxmlformats.org/officeDocument/2006/relationships/slideLayout" Target="/ppt/slideLayouts/slideLayout1.xml" Id="R8e5717fe8599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5717fe8599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90d4eb5f4895" /><Relationship Type="http://schemas.openxmlformats.org/officeDocument/2006/relationships/notesSlide" Target="/ppt/notesSlides/notesSlide1.xml" Id="R6864a109e11b42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3810cdb914798" /><Relationship Type="http://schemas.openxmlformats.org/officeDocument/2006/relationships/notesSlide" Target="/ppt/notesSlides/notesSlide2.xml" Id="R14409e580af8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a3b671da4e8d" /><Relationship Type="http://schemas.openxmlformats.org/officeDocument/2006/relationships/notesSlide" Target="/ppt/notesSlides/notesSlide3.xml" Id="Rc4d705da2a754d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b20617e534868" /><Relationship Type="http://schemas.openxmlformats.org/officeDocument/2006/relationships/notesSlide" Target="/ppt/notesSlides/notesSlide4.xml" Id="Re7dc5fcccd304c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ca6814ab24147" /><Relationship Type="http://schemas.openxmlformats.org/officeDocument/2006/relationships/notesSlide" Target="/ppt/notesSlides/notesSlide5.xml" Id="Rd550bbdd400a46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0626e9e7b475e" /><Relationship Type="http://schemas.openxmlformats.org/officeDocument/2006/relationships/notesSlide" Target="/ppt/notesSlides/notesSlide6.xml" Id="Rc66f95ca93cb48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e063d5bff4407" /><Relationship Type="http://schemas.openxmlformats.org/officeDocument/2006/relationships/chart" Target="/ppt/slides/charts/chart1.xml" Id="Rf17caa823413499b" /><Relationship Type="http://schemas.openxmlformats.org/officeDocument/2006/relationships/notesSlide" Target="/ppt/notesSlides/notesSlide7.xml" Id="R35c3c95db7b64b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6ff73c543458d" /><Relationship Type="http://schemas.openxmlformats.org/officeDocument/2006/relationships/notesSlide" Target="/ppt/notesSlides/notesSlide8.xml" Id="R8db91cccb8914f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52569ba6c427f" /><Relationship Type="http://schemas.openxmlformats.org/officeDocument/2006/relationships/notesSlide" Target="/ppt/notesSlides/notesSlide9.xml" Id="R664904533f0d4f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cae22a67447cf" /><Relationship Type="http://schemas.openxmlformats.org/officeDocument/2006/relationships/notesSlide" Target="/ppt/notesSlides/notesSlide10.xml" Id="R192d135d2b4947a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六类原始准确率</c:v>
          </c:tx>
          <c:spPr>
            <a:solidFill xmlns:a="http://schemas.openxmlformats.org/drawingml/2006/main">
              <a:srgbClr val="2463BC"/>
            </a:solidFill>
          </c:spPr>
          <c:cat>
            <c:strRef>
              <c:f>'Chart Data'!$A$2:$A$3</c:f>
              <c:strCache>
                <c:ptCount val="2"/>
                <c:pt idx="0">
                  <c:v>多数类基线</c:v>
                </c:pt>
                <c:pt idx="1">
                  <c:v>随机森林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0.2641</c:v>
                </c:pt>
                <c:pt idx="1">
                  <c:v>0.9004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9A011-D727-4274-8DA1-85567D38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机联智检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01F53-269F-4627-899A-96BE14CA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既有车联网平台的</a:t>
            </a:r>
          </a:p>
          <a:p xmlns:a="http://schemas.openxmlformats.org/drawingml/2006/main">
            <a:pPr>
              <a:def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诊断与备件辅助工具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090A2-A315-405B-8035-A480A250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AI＋工程机械专业赛  ·  2026年9月</a:t>
            </a:r>
          </a:p>
        </p:txBody>
      </p:sp>
    </p:spTree>
    <p:extLst>
      <p:ext uri="{BB962C8B-B14F-4D97-AF65-F5344CB8AC3E}">
        <p14:creationId xmlns:p14="http://schemas.microsoft.com/office/powerpoint/2010/main" val="2008750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AEAF-5C53-4532-837E-4980ED65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远程排查中的信息缺口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A76BA-DEC1-4A8E-9A8A-B8777B24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工时不变，可能是停机，也可能是数据没有更新。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E8775-AADF-4116-B2BD-768BA157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出现故障码，还需要核查时间、状态与现场证据。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A71D6-7413-4100-AB2C-E948C85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找到同名备件，仍需要确认机型、序列号与资料版本。</a:t>
            </a:r>
          </a:p>
        </p:txBody>
      </p:sp>
    </p:spTree>
    <p:extLst>
      <p:ext uri="{BB962C8B-B14F-4D97-AF65-F5344CB8AC3E}">
        <p14:creationId xmlns:p14="http://schemas.microsoft.com/office/powerpoint/2010/main" val="925473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2F961-1040-4EF6-97E1-D7EC2474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9CF2D-0121-4162-B865-6872C0E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1  读取平台设备 ID，选择对应数据版本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F1BBB-30D2-4A86-8674-5E8BA81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2  提问并补充现场观察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C4C8B-ABF0-48A7-8888-7092DE81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3  查看证据、检查步骤与备件候选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6D8B7-1151-477E-B097-DB83DB4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4  保存检查结果，继续分析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9D3CE-5F07-426B-9830-1042F38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5  导出报告并由服务人员复核</a:t>
            </a:r>
          </a:p>
        </p:txBody>
      </p:sp>
    </p:spTree>
    <p:extLst>
      <p:ext uri="{BB962C8B-B14F-4D97-AF65-F5344CB8AC3E}">
        <p14:creationId xmlns:p14="http://schemas.microsoft.com/office/powerpoint/2010/main" val="1586566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CB6BE-481F-4AC9-9A3E-0D8A9BC2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本地 AI 与程序的分工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43375"/>
                <a:gridCol w="458152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实现方式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Ollama + qwen3.5:9b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问题解释与工具选择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证据与备件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时间核验、精确条件检索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数据事实与待检查候选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工况识别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模拟传感器 + 随机森林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六类工况或未知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B99B9-ECFC-432A-94B0-1B40084E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数据事实与待核实 AI 解释分开显示，保留原始证据。</a:t>
            </a:r>
          </a:p>
        </p:txBody>
      </p:sp>
    </p:spTree>
    <p:extLst>
      <p:ext uri="{BB962C8B-B14F-4D97-AF65-F5344CB8AC3E}">
        <p14:creationId xmlns:p14="http://schemas.microsoft.com/office/powerpoint/2010/main" val="696054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C0A55-67D1-4D0C-B220-9A409420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故障与备件演示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本次演示结果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人工增压信号告警，两个记录时点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时间证据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首末间隔 25 分钟，不代表复发周期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备件候选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DEMO-BOOST-SENSOR，非采购零件号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检查反馈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记录观察，保留未确认事项，继续分析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E0F16-2580-4C26-8A88-FE063D92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XGSS 手册入口待联调，尚未取得手册正文。</a:t>
            </a:r>
          </a:p>
        </p:txBody>
      </p:sp>
    </p:spTree>
    <p:extLst>
      <p:ext uri="{BB962C8B-B14F-4D97-AF65-F5344CB8AC3E}">
        <p14:creationId xmlns:p14="http://schemas.microsoft.com/office/powerpoint/2010/main" val="1359998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09263-B4BA-4701-9AB5-3B81E7EE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真实接入与数据边界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714750"/>
                <a:gridCol w="467677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已验证读取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字段按各自时间处理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工时与怠速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工时 36 条，怠速为空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最近一次网页同步结果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故障权限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网页未核验，另次曾 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无法确认当前读取可用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XGSS 接入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生产地址及 RSA 已提供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手册参数和账号待确认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FB51-9B72-448F-A373-CCFF32EC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细粒度信号仍不足，工况识别使用独立模拟数据。</a:t>
            </a:r>
          </a:p>
        </p:txBody>
      </p:sp>
    </p:spTree>
    <p:extLst>
      <p:ext uri="{BB962C8B-B14F-4D97-AF65-F5344CB8AC3E}">
        <p14:creationId xmlns:p14="http://schemas.microsoft.com/office/powerpoint/2010/main" val="421052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90E79-45B1-44F2-A135-20DCBDAB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模拟工况分类结果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6680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7caa823413499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71DF7-B174-463E-8E26-8919783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7 段独立测试班次 · 40,320 个模拟采样点 · 宏平均 F1 0.9078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B9E9E-E593-4540-9EE0-DEAE656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训练与测试按完整班次分隔；以上不是实机准确率。</a:t>
            </a:r>
          </a:p>
        </p:txBody>
      </p:sp>
    </p:spTree>
    <p:extLst>
      <p:ext uri="{BB962C8B-B14F-4D97-AF65-F5344CB8AC3E}">
        <p14:creationId xmlns:p14="http://schemas.microsoft.com/office/powerpoint/2010/main" val="793915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A4562-16C0-4A07-8FA2-3C64169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缺失与噪声下的表现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857625"/>
                <a:gridCol w="4581525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EAF0F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 89.85%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 10.15% 保留未知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额外噪声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已分类准确率 84.11%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高得分仍有误判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8,064 个缺失点全部未知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不把缺失当成零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压力冻结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影响区间覆盖率 41.18%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大量样本不能可靠分类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B82E6-DF9B-4797-8228-37AB9D05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模型得分未校准成真实正确概率，不能用于自动维修决策。</a:t>
            </a:r>
          </a:p>
        </p:txBody>
      </p:sp>
    </p:spTree>
    <p:extLst>
      <p:ext uri="{BB962C8B-B14F-4D97-AF65-F5344CB8AC3E}">
        <p14:creationId xmlns:p14="http://schemas.microsoft.com/office/powerpoint/2010/main" val="633389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2DEFB-F263-4CE6-BD75-ACFE1FAD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当前交付与待验收事项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43DF8-B9F9-4805-A731-0CDADFF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63BC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435C6-5E51-4D85-9ED4-544352FE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v6 本地原型与扩展源码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模拟数据、备件模板与工况回放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报告、检查反馈与评测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功能短片与反馈复核短片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35C3C-E476-4A38-AF8D-80FACB63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待完成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47C7D-6D35-48C1-A4DE-4D9AEF87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XGSS 手册与正式资料接入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实际侧栏安装联调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新电脑与完整断网验收</a:t>
            </a:r>
          </a:p>
          <a:p xmlns:a="http://schemas.openxmlformats.org/drawingml/2006/main">
            <a:pPr>
              <a:def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模型语义修正与现场试用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C1C60-4104-4E80-9026-D8C1D49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原型可演示，尚未证明实机预测效果或量化维修收益。</a:t>
            </a:r>
          </a:p>
        </p:txBody>
      </p:sp>
    </p:spTree>
    <p:extLst>
      <p:ext uri="{BB962C8B-B14F-4D97-AF65-F5344CB8AC3E}">
        <p14:creationId xmlns:p14="http://schemas.microsoft.com/office/powerpoint/2010/main" val="1536707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12F42-1FB1-4CBA-9F40-866EE55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试用计划与合作需求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75E0A-D3BB-4E7C-AEDB-879DF379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限定机型与任务，开展技术支持人员试用。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C4450-140F-4691-A26E-6FDA1F8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获取授权维修资料、备件适用范围和历史检查结果。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8D95A-1FE2-4237-81C8-7E5B9A55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2433"/>
                </a:solidFill>
                <a:latin typeface="Microsoft YaHei"/>
                <a:ea typeface="Microsoft YaHei"/>
                <a:cs typeface="Microsoft YaHei"/>
              </a:rPr>
              <a:t>对照人工流程，记录耗时、遗漏、修改与拒答。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844AC-9A4D-4A8A-ABF5-8BF0DA6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本期零新增现金开发预算；后续可探索本地部署与维护服务。</a:t>
            </a:r>
          </a:p>
        </p:txBody>
      </p:sp>
    </p:spTree>
    <p:extLst>
      <p:ext uri="{BB962C8B-B14F-4D97-AF65-F5344CB8AC3E}">
        <p14:creationId xmlns:p14="http://schemas.microsoft.com/office/powerpoint/2010/main" val="2067732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2026-09-14T07:44:43.6340000Z</dcterms:created>
  <dcterms:modified xsi:type="dcterms:W3CDTF">2026-09-14T07:44:43.6340000Z</dcterms:modified>
</coreProperties>
</file>