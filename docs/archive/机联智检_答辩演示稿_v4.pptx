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bd1741cbe4949" /><Relationship Type="http://schemas.openxmlformats.org/officeDocument/2006/relationships/extended-properties" Target="/docProps/app.xml" Id="R7728498bbcaa41dd" /><Relationship Type="http://schemas.openxmlformats.org/officeDocument/2006/relationships/officeDocument" Target="/ppt/presentation.xml" Id="R3454428b797f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4f2d0f4fda4c6b"/>
  </p:sldMasterIdLst>
  <p:notesMasterIdLst>
    <p:notesMasterId xmlns:r="http://schemas.openxmlformats.org/officeDocument/2006/relationships" r:id="R565ec019cff04bf3"/>
  </p:notesMasterIdLst>
  <p:sldIdLst>
    <p:sldId xmlns:r="http://schemas.openxmlformats.org/officeDocument/2006/relationships" id="256" r:id="R1f4af0692f9b4a8f"/>
    <p:sldId xmlns:r="http://schemas.openxmlformats.org/officeDocument/2006/relationships" id="257" r:id="Rad11e4facda84238"/>
    <p:sldId xmlns:r="http://schemas.openxmlformats.org/officeDocument/2006/relationships" id="258" r:id="R8cbd956bff2942e6"/>
    <p:sldId xmlns:r="http://schemas.openxmlformats.org/officeDocument/2006/relationships" id="259" r:id="Rff3d904a5549431a"/>
    <p:sldId xmlns:r="http://schemas.openxmlformats.org/officeDocument/2006/relationships" id="260" r:id="R60302bd2f8494106"/>
    <p:sldId xmlns:r="http://schemas.openxmlformats.org/officeDocument/2006/relationships" id="261" r:id="Ra47f20f0f614448f"/>
    <p:sldId xmlns:r="http://schemas.openxmlformats.org/officeDocument/2006/relationships" id="262" r:id="R1e3e3203f15248c6"/>
    <p:sldId xmlns:r="http://schemas.openxmlformats.org/officeDocument/2006/relationships" id="263" r:id="Rcd2415103333453e"/>
    <p:sldId xmlns:r="http://schemas.openxmlformats.org/officeDocument/2006/relationships" id="264" r:id="Rc34706a7ea454059"/>
    <p:sldId xmlns:r="http://schemas.openxmlformats.org/officeDocument/2006/relationships" id="265" r:id="R517daf1ec2d546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415f0d88546d7" /><Relationship Type="http://schemas.openxmlformats.org/officeDocument/2006/relationships/slideMaster" Target="/ppt/slideMasters/slideMaster1.xml" Id="Ra44f2d0f4fda4c6b" /><Relationship Type="http://schemas.openxmlformats.org/officeDocument/2006/relationships/notesMaster" Target="/ppt/notesMasters/notesMaster1.xml" Id="R565ec019cff04bf3" /><Relationship Type="http://schemas.openxmlformats.org/officeDocument/2006/relationships/presProps" Target="/ppt/presProps.xml" Id="R32f56eb47c9a4420" /><Relationship Type="http://schemas.openxmlformats.org/officeDocument/2006/relationships/tableStyles" Target="/ppt/tableStyles.xml" Id="Ra58a011413434793" /><Relationship Type="http://schemas.openxmlformats.org/officeDocument/2006/relationships/slide" Target="/ppt/slides/slide1.xml" Id="R1f4af0692f9b4a8f" /><Relationship Type="http://schemas.openxmlformats.org/officeDocument/2006/relationships/slide" Target="/ppt/slides/slide2.xml" Id="Rad11e4facda84238" /><Relationship Type="http://schemas.openxmlformats.org/officeDocument/2006/relationships/slide" Target="/ppt/slides/slide3.xml" Id="R8cbd956bff2942e6" /><Relationship Type="http://schemas.openxmlformats.org/officeDocument/2006/relationships/slide" Target="/ppt/slides/slide4.xml" Id="Rff3d904a5549431a" /><Relationship Type="http://schemas.openxmlformats.org/officeDocument/2006/relationships/slide" Target="/ppt/slides/slide5.xml" Id="R60302bd2f8494106" /><Relationship Type="http://schemas.openxmlformats.org/officeDocument/2006/relationships/slide" Target="/ppt/slides/slide6.xml" Id="Ra47f20f0f614448f" /><Relationship Type="http://schemas.openxmlformats.org/officeDocument/2006/relationships/slide" Target="/ppt/slides/slide7.xml" Id="R1e3e3203f15248c6" /><Relationship Type="http://schemas.openxmlformats.org/officeDocument/2006/relationships/slide" Target="/ppt/slides/slide8.xml" Id="Rcd2415103333453e" /><Relationship Type="http://schemas.openxmlformats.org/officeDocument/2006/relationships/slide" Target="/ppt/slides/slide9.xml" Id="Rc34706a7ea454059" /><Relationship Type="http://schemas.openxmlformats.org/officeDocument/2006/relationships/slide" Target="/ppt/slides/slide10.xml" Id="R517daf1ec2d5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97cde8a7b42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e70f5fb7b74324" /><Relationship Type="http://schemas.openxmlformats.org/officeDocument/2006/relationships/notesMaster" Target="/ppt/notesMasters/notesMaster1.xml" Id="R33aee287d64e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40c173a62d46cc" /><Relationship Type="http://schemas.openxmlformats.org/officeDocument/2006/relationships/notesMaster" Target="/ppt/notesMasters/notesMaster1.xml" Id="Rf9f06de6be7e44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63fc6fba484807" /><Relationship Type="http://schemas.openxmlformats.org/officeDocument/2006/relationships/notesMaster" Target="/ppt/notesMasters/notesMaster1.xml" Id="R94d50c8f210743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bec123bc745cd" /><Relationship Type="http://schemas.openxmlformats.org/officeDocument/2006/relationships/notesMaster" Target="/ppt/notesMasters/notesMaster1.xml" Id="R3f506fc7f94b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b74a77ee9f4327" /><Relationship Type="http://schemas.openxmlformats.org/officeDocument/2006/relationships/notesMaster" Target="/ppt/notesMasters/notesMaster1.xml" Id="R96ba4d4f4834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21a08ccf484fc2" /><Relationship Type="http://schemas.openxmlformats.org/officeDocument/2006/relationships/notesMaster" Target="/ppt/notesMasters/notesMaster1.xml" Id="Re8fbf62efdd84b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408ce75e194aec" /><Relationship Type="http://schemas.openxmlformats.org/officeDocument/2006/relationships/notesMaster" Target="/ppt/notesMasters/notesMaster1.xml" Id="Ra5ed99138ed44d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0a9a9462464aa3" /><Relationship Type="http://schemas.openxmlformats.org/officeDocument/2006/relationships/notesMaster" Target="/ppt/notesMasters/notesMaster1.xml" Id="Rc9ef52d4bcde4c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9d0f6e7549499d" /><Relationship Type="http://schemas.openxmlformats.org/officeDocument/2006/relationships/notesMaster" Target="/ppt/notesMasters/notesMaster1.xml" Id="R04161a22c95745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cb1f8c8d5e4870" /><Relationship Type="http://schemas.openxmlformats.org/officeDocument/2006/relationships/notesMaster" Target="/ppt/notesMasters/notesMaster1.xml" Id="R29b107718bf6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我们正在开发一款面向既有车联网平台的本地 AI 辅助工具。目标用户是技术支持和现场服务人员。展示围绕已经运行的软件原型展开；模拟工况分类结果不能当作实机故障预测准确率。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依据：docs/机联智检_完整参赛Proposal.md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能展示设备数据，但数据不变可能是停机、链路问题或缓存问题，不能直接断定设备损坏。故障码只是线索，备件仍需匹配整机配置。我们的切入点是减少查找、整理和反复确认的工作；节省时间的幅度还需服务人员对照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依据：项目需求与 proposal 第一章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用户在 Trackunit 查看设备，打开侧栏读取设备 ID，选择本地对应版本后提问。AI 查询证据，程序返回指标与备件候选。检查结果可以挂到原诊断记录下，再带着反馈继续分析。平台关联代码已实现，本地网址转交验证通过，实际安装后的侧栏联调待完成。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依据：docs/EXTENSION.md；docs/INSPECTION_FEEDBACK.md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语言模型负责理解问题、选择证据工具并提供待核实解释。程序直接整理数据来源、时间、窗口指标和备件筛选原因，网页和导出报告将数据事实与 AI 解释分开。工况识别另由模拟传感器分类模型完成。自由摘要仍可能误述时间关系和适用性，尚未通过完整语义验收。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依据：app/local_assistant.py；app/work_state.py；docs/WORK_STATE_MODEL.md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人工编写的演示案例，不是制造商故障结论。两个告警时点的首末间隔为25分钟，不能叫作故障复发周期。程序检索到演示候选，展示目录原文检查步骤；还要核实故障活跃状态与整机配置。随后可保存明确标记为模拟的检查反馈并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依据：docs/PARTS_DEMO.md；docs/examples/demo-parts-catalog.json；docs/INSPECTION_FEEDBACK.md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读取真实快照和一台挖掘机的历史工时。对应怠速为空，故障接口曾返回401，不能用演示告警冒充实际返回。快照字段有各自的时间，我们已按观测时间拆分，保留零值。当前详细传感器不足以直接运行工况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依据：docs/TRACKUNIT_NORMALIZATION.md；docs/TRACKUNIT_HISTORY_SYNC.md；本地接口核验记录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完整独立班次划分训练和测试，避免把相邻采样点随机拆开。测试为7段、40320点，输入只有当前和过去的传感器特征，没有标签、场景编号或未来数据。随机森林原始六类准确率90.04%，多数类基线26.41%。这衡量模拟数据分类能力，不是实机故障预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依据：data/work_state_v1/evaluation.json；docs/WORK_STATE_MODEL.md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模型和0.65阈值后，我们加入传感器缺失、额外噪声和信号冻结。额外噪声下已分类准确率降到84.11%。压力缺失点直接保留未知，信号冻结影响区间覆盖率只有41.18%。这些结果说明高分不等于可靠，现场需要更丰富信号和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依据：docs/evaluation/2026-09-14-work-state-stress.md；对应 JSON 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交付源码、模拟生成器、演示目录、工况回放、检查反馈、报告和44秒模拟功能短片。同机新虚拟环境、后端启动及模型卸载后的重新加载已验证。短片包含实际界面定格和动态回放，尚未覆盖侧栏或完整反馈操作。实际侧栏联调、整机离线和服务完整冷启动仍未完成。模型语义问题与实机试用继续保留为待验收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依据：docs/DEMO_VIDEO.md；docs/evaluation/2026-09-14-clean-venv-install.md；docs/evaluation/2026-09-14-model-reload.md；docs/EXTENSION.md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使用现有电脑和已购会员，没有新增现金开发预算。下一阶段需要授权的维修资料、带结果的历史工单和技术人员复核。拟从限定机型、限定任务的小范围试用开始，对照人工与工具辅助的耗时、遗漏和修改情况。是否付费以及部署服务价格，必须在试用后确认，不能把商业假设写成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依据：proposal 第八章；尚无实机试点、收益或收入证明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365da18e54b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8e4d9708b5468c" /><Relationship Type="http://schemas.openxmlformats.org/officeDocument/2006/relationships/slideLayout" Target="/ppt/slideLayouts/slideLayout1.xml" Id="R3e94feb43681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4feb43681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3df816a834794" /><Relationship Type="http://schemas.openxmlformats.org/officeDocument/2006/relationships/notesSlide" Target="/ppt/notesSlides/notesSlide1.xml" Id="R8809a8220010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f24491f554f97" /><Relationship Type="http://schemas.openxmlformats.org/officeDocument/2006/relationships/notesSlide" Target="/ppt/notesSlides/notesSlide2.xml" Id="Rd74b7a4407494d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b58e637df4123" /><Relationship Type="http://schemas.openxmlformats.org/officeDocument/2006/relationships/notesSlide" Target="/ppt/notesSlides/notesSlide3.xml" Id="Re3737c789df5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22e9f3c9d4709" /><Relationship Type="http://schemas.openxmlformats.org/officeDocument/2006/relationships/notesSlide" Target="/ppt/notesSlides/notesSlide4.xml" Id="R9003c3a943b745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02c21c0124589" /><Relationship Type="http://schemas.openxmlformats.org/officeDocument/2006/relationships/notesSlide" Target="/ppt/notesSlides/notesSlide5.xml" Id="R92a94feaddf84d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22d165d2c4a41" /><Relationship Type="http://schemas.openxmlformats.org/officeDocument/2006/relationships/notesSlide" Target="/ppt/notesSlides/notesSlide6.xml" Id="R2e3238a756244c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6f637c8894c60" /><Relationship Type="http://schemas.openxmlformats.org/officeDocument/2006/relationships/chart" Target="/ppt/slides/charts/chart1.xml" Id="Rff19413229d14f85" /><Relationship Type="http://schemas.openxmlformats.org/officeDocument/2006/relationships/notesSlide" Target="/ppt/notesSlides/notesSlide7.xml" Id="Rd65771bda2b84a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9cb7ab51b41a9" /><Relationship Type="http://schemas.openxmlformats.org/officeDocument/2006/relationships/notesSlide" Target="/ppt/notesSlides/notesSlide8.xml" Id="Rfe88121b8acb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e69e7aaab41af" /><Relationship Type="http://schemas.openxmlformats.org/officeDocument/2006/relationships/notesSlide" Target="/ppt/notesSlides/notesSlide9.xml" Id="Rc582db2ff6da45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82b6b31194d3e" /><Relationship Type="http://schemas.openxmlformats.org/officeDocument/2006/relationships/notesSlide" Target="/ppt/notesSlides/notesSlide10.xml" Id="R4dee4b7334334f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六类原始准确率</c:v>
          </c:tx>
          <c:spPr>
            <a:solidFill xmlns:a="http://schemas.openxmlformats.org/drawingml/2006/main">
              <a:srgbClr val="2463BC"/>
            </a:solidFill>
          </c:spPr>
          <c:cat>
            <c:strRef>
              <c:f>'Chart Data'!$A$2:$A$3</c:f>
              <c:strCache>
                <c:ptCount val="2"/>
                <c:pt idx="0">
                  <c:v>多数类基线</c:v>
                </c:pt>
                <c:pt idx="1">
                  <c:v>随机森林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0.2641</c:v>
                </c:pt>
                <c:pt idx="1">
                  <c:v>0.9004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573CC-1708-4C37-A620-54339988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机联智检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085D6-9AF8-42DD-852D-1BDE8F4D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既有车联网平台的</a:t>
            </a:r>
          </a:p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诊断与备件辅助工具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F40AF-5955-4C03-8193-19F7865E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AI＋工程机械专业赛  ·  2026年9月</a:t>
            </a:r>
          </a:p>
        </p:txBody>
      </p:sp>
    </p:spTree>
    <p:extLst>
      <p:ext uri="{BB962C8B-B14F-4D97-AF65-F5344CB8AC3E}">
        <p14:creationId xmlns:p14="http://schemas.microsoft.com/office/powerpoint/2010/main" val="1222288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D9BB1-255A-4B76-B0F7-2AB2E077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远程排查中的信息缺口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2F91F-36B5-4F52-9F8C-BC200686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工时不变，可能是停机，也可能是数据没有更新。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01C9F-9FAC-4555-80F8-CEBAF54B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出现故障码，还需要核查时间、状态与现场证据。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B4C8C-A2A4-4CD6-BE79-9710DA2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找到同名备件，仍需要确认机型、序列号与资料版本。</a:t>
            </a:r>
          </a:p>
        </p:txBody>
      </p:sp>
    </p:spTree>
    <p:extLst>
      <p:ext uri="{BB962C8B-B14F-4D97-AF65-F5344CB8AC3E}">
        <p14:creationId xmlns:p14="http://schemas.microsoft.com/office/powerpoint/2010/main" val="293124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50699-C987-4928-9D9D-21FC859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D1925-7713-420F-9740-EBF35EC6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1  读取平台设备 ID，选择对应数据版本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7C7CE-F8D3-42B9-881D-9CA09F7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2  提问并补充现场观察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7C0C2-8524-4B50-8BD8-784CFA8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3  查看证据、检查步骤与备件候选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6D4BB-9584-4C02-BD34-19A6DC2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4  保存检查结果，继续分析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96B06-950C-4A20-B6F2-10D5F12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5  导出报告并由服务人员复核</a:t>
            </a:r>
          </a:p>
        </p:txBody>
      </p:sp>
    </p:spTree>
    <p:extLst>
      <p:ext uri="{BB962C8B-B14F-4D97-AF65-F5344CB8AC3E}">
        <p14:creationId xmlns:p14="http://schemas.microsoft.com/office/powerpoint/2010/main" val="961764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CFCF1-60B2-4994-9B10-60926251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与程序的分工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43375"/>
                <a:gridCol w="458152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实现方式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Ollama + qwen3:8b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问题解释与工具选择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证据与备件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时间核验、精确条件检索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数据事实与待检查候选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模拟传感器 + 随机森林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六类工况或未知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A3EBE-B923-4BA7-8842-13A18484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数据事实与待核实 AI 解释分开显示，保留原始证据。</a:t>
            </a:r>
          </a:p>
        </p:txBody>
      </p:sp>
    </p:spTree>
    <p:extLst>
      <p:ext uri="{BB962C8B-B14F-4D97-AF65-F5344CB8AC3E}">
        <p14:creationId xmlns:p14="http://schemas.microsoft.com/office/powerpoint/2010/main" val="83748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2F1CD-C5F2-437F-9C8D-B3D0E91E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故障与备件演示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本次演示结果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人工增压信号告警，两个记录时点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时间证据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首末间隔 25 分钟，不代表复发周期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备件候选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DEMO-BOOST-SENSOR，非采购零件号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检查反馈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记录观察，保留未确认事项，继续分析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4DFD6-E56B-4EE4-A8F0-F47C705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模拟流程验证；真实维修手册和适用性仍需核实。</a:t>
            </a:r>
          </a:p>
        </p:txBody>
      </p:sp>
    </p:spTree>
    <p:extLst>
      <p:ext uri="{BB962C8B-B14F-4D97-AF65-F5344CB8AC3E}">
        <p14:creationId xmlns:p14="http://schemas.microsoft.com/office/powerpoint/2010/main" val="718976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033C4-5EBC-4110-8FF8-B074B3F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真实接入与数据边界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467677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已验证读取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字段按各自时间处理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历史工时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一台设备返回 36 条记录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仅统计有效区间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怠速与故障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怠速为空；故障曾返回 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保留缺口，不以模拟填补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细粒度传感器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当前接入不足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工况识别使用独立模拟数据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215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17CB-D862-4C04-98AD-5861448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模拟工况分类结果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19413229d14f8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A8ECC-9FA0-4870-9589-AB2855E3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7 段独立测试班次 · 40,320 个模拟采样点 · 宏平均 F1 0.9078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845FD-AEE0-4C90-AD90-8405E7F2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训练与测试按完整班次分隔；以上不是实机准确率。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972075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C9BE0-DB5C-4A3B-8CF8-CE73777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缺失与噪声下的表现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57625"/>
                <a:gridCol w="45815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 89.85%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 10.15% 保留未知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额外噪声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已分类准确率 84.11%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高得分仍有误判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8,064 个缺失点全部未知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不把缺失当成零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压力冻结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影响区间覆盖率 41.18%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大量样本不能可靠分类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9A71-E57F-4F63-99E6-2499EA3C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模型得分未校准成真实正确概率，不能用于自动维修决策。</a:t>
            </a:r>
          </a:p>
        </p:txBody>
      </p:sp>
    </p:spTree>
    <p:extLst>
      <p:ext uri="{BB962C8B-B14F-4D97-AF65-F5344CB8AC3E}">
        <p14:creationId xmlns:p14="http://schemas.microsoft.com/office/powerpoint/2010/main" val="1841756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51B90-8F00-473F-9984-A7D2EF03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当前交付与待验收事项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7C03C-F7C3-4EAC-8294-C1175FC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D5D30-2A0D-4E0C-B214-FD90D4A5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本地服务与扩展源码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模拟数据、备件模板与工况回放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报告、检查反馈与评测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44秒模拟功能演示视频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F72D-10B7-49C9-82CC-166BFFF7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F0FE2-8105-400F-8F11-80C1D2FF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实际侧栏安装联调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完整服务冷启动与断网验收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模型语义修正与现场试用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4E225-A585-458D-ADD5-DD0625E7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原型可演示，尚未证明实机预测效果或量化维修收益。</a:t>
            </a:r>
          </a:p>
        </p:txBody>
      </p:sp>
    </p:spTree>
    <p:extLst>
      <p:ext uri="{BB962C8B-B14F-4D97-AF65-F5344CB8AC3E}">
        <p14:creationId xmlns:p14="http://schemas.microsoft.com/office/powerpoint/2010/main" val="888970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ADE73-5013-40D7-AA3D-51173232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试用计划与合作需求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B798C-CE8C-41DD-9F47-9C8767F5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限定机型与任务，开展技术支持人员试用。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11A12-C1EB-44B2-BA04-7FA26AA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获取授权维修资料、备件适用范围和历史检查结果。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17A70-C418-4BAA-823A-750F80A1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对照人工流程，记录耗时、遗漏、修改与拒答。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5DA58-F5F6-436A-8427-A5ED5552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本期零新增现金开发预算；后续可探索本地部署与维护服务。</a:t>
            </a:r>
          </a:p>
        </p:txBody>
      </p:sp>
    </p:spTree>
    <p:extLst>
      <p:ext uri="{BB962C8B-B14F-4D97-AF65-F5344CB8AC3E}">
        <p14:creationId xmlns:p14="http://schemas.microsoft.com/office/powerpoint/2010/main" val="1010335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2026-09-14T06:34:39.4740000Z</dcterms:created>
  <dcterms:modified xsi:type="dcterms:W3CDTF">2026-09-14T06:34:39.4740000Z</dcterms:modified>
</coreProperties>
</file>